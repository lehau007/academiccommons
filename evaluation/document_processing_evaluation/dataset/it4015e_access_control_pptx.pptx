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y="6858000" cx="9144000"/>
  <p:notesSz cx="6858000" cy="9144000"/>
  <p:embeddedFontLst>
    <p:embeddedFont>
      <p:font typeface="Garamond"/>
      <p:regular r:id="rId66"/>
      <p:bold r:id="rId67"/>
      <p:italic r:id="rId68"/>
      <p:boldItalic r:id="rId69"/>
    </p:embeddedFont>
    <p:embeddedFont>
      <p:font typeface="Noto Sans Symbols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2" roundtripDataSignature="AMtx7mh1A9VDUC9qOIaDuFoG1tNDDVU8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2DE75F-9C77-4C34-86C8-5E01BBA945D2}">
  <a:tblStyle styleId="{BB2DE75F-9C77-4C34-86C8-5E01BBA945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2" Type="http://customschemas.google.com/relationships/presentationmetadata" Target="meta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NotoSansSymbols-bold.fntdata"/><Relationship Id="rId70" Type="http://schemas.openxmlformats.org/officeDocument/2006/relationships/font" Target="fonts/NotoSansSymbols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font" Target="fonts/Garamond-regular.fntdata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Garamond-italic.fntdata"/><Relationship Id="rId23" Type="http://schemas.openxmlformats.org/officeDocument/2006/relationships/slide" Target="slides/slide16.xml"/><Relationship Id="rId67" Type="http://schemas.openxmlformats.org/officeDocument/2006/relationships/font" Target="fonts/Garamond-bold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Garamond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0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0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34" name="Google Shape;34;p6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40" name="Google Shape;40;p63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41" name="Google Shape;41;p6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6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7"/>
          <p:cNvSpPr txBox="1"/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" type="body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1" name="Google Shape;61;p6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8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7" name="Google Shape;67;p6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74" name="Google Shape;74;p6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35280" lvl="1" marL="91440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/>
        </p:txBody>
      </p:sp>
      <p:sp>
        <p:nvSpPr>
          <p:cNvPr id="80" name="Google Shape;80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81" name="Google Shape;81;p7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87" name="Google Shape;87;p7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88" name="Google Shape;88;p7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89" name="Google Shape;89;p7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90" name="Google Shape;90;p7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  <p:sp>
        <p:nvSpPr>
          <p:cNvPr id="96" name="Google Shape;96;p7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/>
          <p:nvPr/>
        </p:nvSpPr>
        <p:spPr>
          <a:xfrm>
            <a:off x="609600" y="1219200"/>
            <a:ext cx="79248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59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" name="Google Shape;12;p5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9"/>
          <p:cNvSpPr txBox="1"/>
          <p:nvPr>
            <p:ph idx="11" type="ftr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" name="Google Shape;25;p6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6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b="0" i="0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1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61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Information Security  </a:t>
            </a:r>
            <a:br>
              <a:rPr b="0" i="0" lang="en-US" sz="46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46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				</a:t>
            </a:r>
            <a:r>
              <a:rPr b="0" i="0" lang="en-US" sz="30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Van K Nguyen - HUT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12" name="Google Shape;112;p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Topics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Control Matrix model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Discretionary Access Control (DAC)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Mandatory Access Control (MAC) and an example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 Based Access Control (RBAC)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Control in Unix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21" name="Google Shape;121;p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AC</a:t>
            </a:r>
            <a:endParaRPr/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Quote from Ross Anderson (text “Security Engineering”)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 function is to control which principals (persons, processes, machines, …) have access to which resources in the system -- which files they can read, which programs they can execute, and how they share data with other principals, and so on.</a:t>
            </a:r>
            <a:endParaRPr/>
          </a:p>
          <a:p>
            <a:pPr indent="-235584" lvl="0" marL="342900" rtl="0" algn="l"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Access Control is Pervasive</a:t>
            </a:r>
            <a:endParaRPr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controlling access to files, ports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protection, privilege levels</a:t>
            </a:r>
            <a:endParaRPr/>
          </a:p>
          <a:p>
            <a:pPr indent="-235584" lvl="0" marL="342900" rtl="0" algn="l"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39" name="Google Shape;139;p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Access Control Matrix – A general model for protection systems</a:t>
            </a:r>
            <a:endParaRPr/>
          </a:p>
        </p:txBody>
      </p:sp>
      <p:sp>
        <p:nvSpPr>
          <p:cNvPr id="140" name="Google Shape;140;p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Lampson’1971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“Protection”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Refined by Graham and Denning’1972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“Protection---Principles and Practice”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Harrison, Ruzzo, and Ullman’1976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“Protection in Operating Systems”</a:t>
            </a:r>
            <a:endParaRPr/>
          </a:p>
          <a:p>
            <a:pPr indent="-235584" lvl="0" marL="342900" rtl="0" algn="l"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48" name="Google Shape;148;p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Overview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Protection state of system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current settings, values of system relevant to protection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control matrix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protection state precisely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 describing rights of subjects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transitions change elements of matrix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Access Matrix</a:t>
            </a:r>
            <a:endParaRPr/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of subjects 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of objects 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set of rights 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access control matrix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row for each subject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column for each subject/object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are right of subject on another subject or object</a:t>
            </a:r>
            <a:endParaRPr/>
          </a:p>
          <a:p>
            <a:pPr indent="-235584" lvl="0" marL="342900" rtl="0" algn="l"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67" name="Google Shape;167;p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Description</a:t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>
            <a:off x="380206" y="1981200"/>
            <a:ext cx="4193381" cy="3276600"/>
            <a:chOff x="766" y="1248"/>
            <a:chExt cx="2642" cy="2064"/>
          </a:xfrm>
        </p:grpSpPr>
        <p:sp>
          <p:nvSpPr>
            <p:cNvPr id="169" name="Google Shape;169;p8"/>
            <p:cNvSpPr txBox="1"/>
            <p:nvPr/>
          </p:nvSpPr>
          <p:spPr>
            <a:xfrm>
              <a:off x="1776" y="1248"/>
              <a:ext cx="13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objects (entities)</a:t>
              </a: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 rot="-5400000">
              <a:off x="543" y="2383"/>
              <a:ext cx="73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subjects</a:t>
              </a:r>
              <a:endParaRPr/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1200" y="1872"/>
              <a:ext cx="308" cy="1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…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endParaRPr/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1536" y="1584"/>
              <a:ext cx="18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"/>
                <a:buNone/>
              </a:pP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o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  </a:t>
              </a: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 …   </a:t>
              </a: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o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m</a:t>
              </a: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  </a:t>
              </a: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</a:t>
              </a:r>
              <a:r>
                <a:rPr b="0" baseline="-2500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b="0" i="0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  …  </a:t>
              </a:r>
              <a:r>
                <a:rPr b="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</a:t>
              </a:r>
              <a:r>
                <a:rPr b="0" baseline="-25000" i="1" lang="en-US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n</a:t>
              </a:r>
              <a:endParaRPr/>
            </a:p>
          </p:txBody>
        </p:sp>
        <p:cxnSp>
          <p:nvCxnSpPr>
            <p:cNvPr id="173" name="Google Shape;173;p8"/>
            <p:cNvCxnSpPr/>
            <p:nvPr/>
          </p:nvCxnSpPr>
          <p:spPr>
            <a:xfrm>
              <a:off x="1536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1776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2208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2496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2784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3072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3408" y="1872"/>
              <a:ext cx="0" cy="1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1536" y="187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1536" y="211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2" name="Google Shape;182;p8"/>
            <p:cNvCxnSpPr/>
            <p:nvPr/>
          </p:nvCxnSpPr>
          <p:spPr>
            <a:xfrm>
              <a:off x="1536" y="235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3" name="Google Shape;183;p8"/>
            <p:cNvCxnSpPr/>
            <p:nvPr/>
          </p:nvCxnSpPr>
          <p:spPr>
            <a:xfrm>
              <a:off x="1536" y="307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" name="Google Shape;184;p8"/>
            <p:cNvCxnSpPr/>
            <p:nvPr/>
          </p:nvCxnSpPr>
          <p:spPr>
            <a:xfrm>
              <a:off x="1536" y="3312"/>
              <a:ext cx="18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85" name="Google Shape;185;p8"/>
          <p:cNvSpPr txBox="1"/>
          <p:nvPr>
            <p:ph idx="1" type="body"/>
          </p:nvPr>
        </p:nvSpPr>
        <p:spPr>
          <a:xfrm>
            <a:off x="4648200" y="1600200"/>
            <a:ext cx="3810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209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095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{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,…,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Entries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</a:t>
            </a:r>
            <a:r>
              <a:rPr b="0" i="0" lang="en-US" sz="2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⊆</a:t>
            </a:r>
            <a:r>
              <a:rPr b="0" i="0" lang="en-US" sz="26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= {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 means subject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rights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 object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 1</a:t>
            </a:r>
            <a:endParaRPr/>
          </a:p>
        </p:txBody>
      </p:sp>
      <p:sp>
        <p:nvSpPr>
          <p:cNvPr id="195" name="Google Shape;195;p9"/>
          <p:cNvSpPr txBox="1"/>
          <p:nvPr>
            <p:ph idx="1" type="body"/>
          </p:nvPr>
        </p:nvSpPr>
        <p:spPr>
          <a:xfrm>
            <a:off x="457200" y="1717675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	g	p	q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		rwo	r	rwxo	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		a	ro	r	rwxo	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1524000" y="3962400"/>
            <a:ext cx="6781800" cy="121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1524000" y="4572000"/>
            <a:ext cx="678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8" name="Google Shape;198;p9"/>
          <p:cNvCxnSpPr/>
          <p:nvPr/>
        </p:nvCxnSpPr>
        <p:spPr>
          <a:xfrm>
            <a:off x="3200400" y="39624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9" name="Google Shape;199;p9"/>
          <p:cNvCxnSpPr/>
          <p:nvPr/>
        </p:nvCxnSpPr>
        <p:spPr>
          <a:xfrm>
            <a:off x="4724400" y="39624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" name="Google Shape;200;p9"/>
          <p:cNvCxnSpPr/>
          <p:nvPr/>
        </p:nvCxnSpPr>
        <p:spPr>
          <a:xfrm>
            <a:off x="6629400" y="3962400"/>
            <a:ext cx="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09" name="Google Shape;209;p1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 2</a:t>
            </a:r>
            <a:endParaRPr/>
          </a:p>
        </p:txBody>
      </p:sp>
      <p:sp>
        <p:nvSpPr>
          <p:cNvPr id="210" name="Google Shape;210;p10"/>
          <p:cNvSpPr txBox="1"/>
          <p:nvPr>
            <p:ph idx="1" type="body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Procedures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inc_ctr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dec_ctr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Rights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counter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inc_ctr	dec_ctr	manage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inc_ctr	+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dec_ctr	–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		call	call	call	</a:t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5584" lvl="0" marL="342900" rtl="0" algn="l">
              <a:spcBef>
                <a:spcPts val="520"/>
              </a:spcBef>
              <a:spcAft>
                <a:spcPts val="0"/>
              </a:spcAft>
              <a:buSzPts val="1690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0"/>
          <p:cNvGrpSpPr/>
          <p:nvPr/>
        </p:nvGrpSpPr>
        <p:grpSpPr>
          <a:xfrm>
            <a:off x="1981200" y="3429000"/>
            <a:ext cx="5791200" cy="1600200"/>
            <a:chOff x="1344" y="2544"/>
            <a:chExt cx="3648" cy="1008"/>
          </a:xfrm>
        </p:grpSpPr>
        <p:sp>
          <p:nvSpPr>
            <p:cNvPr id="212" name="Google Shape;212;p10"/>
            <p:cNvSpPr txBox="1"/>
            <p:nvPr/>
          </p:nvSpPr>
          <p:spPr>
            <a:xfrm>
              <a:off x="1344" y="2544"/>
              <a:ext cx="3648" cy="100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10"/>
            <p:cNvCxnSpPr/>
            <p:nvPr/>
          </p:nvCxnSpPr>
          <p:spPr>
            <a:xfrm>
              <a:off x="2304" y="2544"/>
              <a:ext cx="0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4" name="Google Shape;214;p10"/>
            <p:cNvCxnSpPr/>
            <p:nvPr/>
          </p:nvCxnSpPr>
          <p:spPr>
            <a:xfrm>
              <a:off x="3120" y="2544"/>
              <a:ext cx="0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5" name="Google Shape;215;p10"/>
            <p:cNvCxnSpPr/>
            <p:nvPr/>
          </p:nvCxnSpPr>
          <p:spPr>
            <a:xfrm>
              <a:off x="4128" y="2544"/>
              <a:ext cx="0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1344" y="2880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1344" y="3216"/>
              <a:ext cx="36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25" name="Google Shape;225;p1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Implementation </a:t>
            </a:r>
            <a:endParaRPr/>
          </a:p>
        </p:txBody>
      </p:sp>
      <p:sp>
        <p:nvSpPr>
          <p:cNvPr id="226" name="Google Shape;226;p1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Storing the access matrix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rows: capability lists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column: access control lists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indirection: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key and lock list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groups, roles, multiple level of indirections, multiple locks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do indirection correctly and conveniently is the key to management of access control.</a:t>
            </a:r>
            <a:endParaRPr/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34" name="Google Shape;234;p1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Implementation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533400" y="1295400"/>
            <a:ext cx="3916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List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(column)</a:t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4495800" y="1143000"/>
            <a:ext cx="3109912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1		File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Joe:Read	Joe:Read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Joe:Write	Sam:Read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Joe:Own		Sam:Write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Sam:Own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6842125" y="1184275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533400" y="2362200"/>
            <a:ext cx="28940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Capability List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(row)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1295400" y="2819400"/>
            <a:ext cx="57689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Joe: File 1/Read, File 1/Write, File 1/Own, File 2/Read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Sam: File 2/Read, File 2/Write, File 2/Own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533400" y="3886200"/>
            <a:ext cx="3146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Triples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3581400" y="3581400"/>
            <a:ext cx="4518025" cy="253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		Access		Object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		Read		File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		Write		File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		Own		File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Joe		Read		File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		Read		File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		Write 		File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		Own		File 2</a:t>
            </a:r>
            <a:endParaRPr/>
          </a:p>
        </p:txBody>
      </p:sp>
      <p:cxnSp>
        <p:nvCxnSpPr>
          <p:cNvPr id="242" name="Google Shape;242;p12"/>
          <p:cNvCxnSpPr/>
          <p:nvPr/>
        </p:nvCxnSpPr>
        <p:spPr>
          <a:xfrm>
            <a:off x="3505200" y="3886200"/>
            <a:ext cx="46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3" name="Google Shape;243;p12"/>
          <p:cNvCxnSpPr/>
          <p:nvPr/>
        </p:nvCxnSpPr>
        <p:spPr>
          <a:xfrm>
            <a:off x="4953000" y="3733800"/>
            <a:ext cx="0" cy="228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4" name="Google Shape;244;p12"/>
          <p:cNvCxnSpPr/>
          <p:nvPr/>
        </p:nvCxnSpPr>
        <p:spPr>
          <a:xfrm>
            <a:off x="6705600" y="3733800"/>
            <a:ext cx="0" cy="228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5" name="Google Shape;245;p12"/>
          <p:cNvSpPr txBox="1"/>
          <p:nvPr/>
        </p:nvSpPr>
        <p:spPr>
          <a:xfrm>
            <a:off x="1127125" y="1565275"/>
            <a:ext cx="996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(ACL)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53" name="Google Shape;253;p1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Access control lists</a:t>
            </a:r>
            <a:endParaRPr/>
          </a:p>
        </p:txBody>
      </p:sp>
      <p:sp>
        <p:nvSpPr>
          <p:cNvPr id="254" name="Google Shape;254;p13"/>
          <p:cNvSpPr txBox="1"/>
          <p:nvPr>
            <p:ph idx="1" type="body"/>
          </p:nvPr>
        </p:nvSpPr>
        <p:spPr>
          <a:xfrm>
            <a:off x="457200" y="3657600"/>
            <a:ext cx="8229600" cy="216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ACL is a list of permissions attached to an object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can modify the object's ACL?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changes are allowed?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are contradictory permissions handled?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is revocation handled?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1295400" y="1600200"/>
            <a:ext cx="1600200" cy="1208087"/>
          </a:xfrm>
          <a:prstGeom prst="rect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U: r,w, 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V: 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r</a:t>
            </a:r>
            <a:endParaRPr/>
          </a:p>
        </p:txBody>
      </p:sp>
      <p:sp>
        <p:nvSpPr>
          <p:cNvPr id="256" name="Google Shape;256;p13"/>
          <p:cNvSpPr txBox="1"/>
          <p:nvPr/>
        </p:nvSpPr>
        <p:spPr>
          <a:xfrm>
            <a:off x="3810000" y="1600200"/>
            <a:ext cx="1600200" cy="1208087"/>
          </a:xfrm>
          <a:prstGeom prst="rect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r,w, 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 r,w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U: r</a:t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1736725" y="2855912"/>
            <a:ext cx="1047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F</a:t>
            </a: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4175125" y="2855912"/>
            <a:ext cx="1085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66" name="Google Shape;266;p1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Owners and Groups</a:t>
            </a:r>
            <a:endParaRPr/>
          </a:p>
        </p:txBody>
      </p:sp>
      <p:sp>
        <p:nvSpPr>
          <p:cNvPr id="267" name="Google Shape;267;p1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can modify the object's ACL?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way is by introducing owners of objects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ACLs we can define any combination of access, but that makes them difficult to manage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allow relatively fine-grained access control while making ACLs easier to manage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Owners and groups can change</a:t>
            </a:r>
            <a:endParaRPr/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75" name="Google Shape;275;p1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Capability lists</a:t>
            </a:r>
            <a:endParaRPr/>
          </a:p>
        </p:txBody>
      </p:sp>
      <p:sp>
        <p:nvSpPr>
          <p:cNvPr id="276" name="Google Shape;276;p1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way to partition the matrix is by rows. 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access rights of one user together, stored in a data structure called a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capability list</a:t>
            </a:r>
            <a:endParaRPr b="0" i="0" sz="2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0837" lvl="2" marL="10223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Lists all the access rights or capabilities that a user has. </a:t>
            </a:r>
            <a:endParaRPr/>
          </a:p>
          <a:p>
            <a:pPr indent="-350837" lvl="2" marL="10223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 Fred --&gt; /dev/console(RW)--&gt; fred/prog.c(RW)--&gt; fred/letter(RW) --&gt; /usr/ucb/vi(X) Jane --&gt; /dev/console(RW)--&gt; fred/prog.c(R)--&gt; fred/letter() --&gt; /usr/ucb/vi(X) 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82" name="Google Shape;282;p1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84" name="Google Shape;284;p1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Capability lists</a:t>
            </a:r>
            <a:endParaRPr/>
          </a:p>
        </p:txBody>
      </p:sp>
      <p:sp>
        <p:nvSpPr>
          <p:cNvPr id="285" name="Google Shape;285;p1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access to objects is done through capabilities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program holds a set of capabilities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program holds a small number of capabilities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only way a program can obtain capabilities is to have them granted as a result of some communication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of capabilities held by each program must be as small as possible (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principle of least privilege)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EROS Operating System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http://www.eros-os.org/eros.html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293" name="Google Shape;293;p1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Harrison-Ruzzo-Ullman model</a:t>
            </a:r>
            <a:endParaRPr/>
          </a:p>
        </p:txBody>
      </p:sp>
      <p:sp>
        <p:nvSpPr>
          <p:cNvPr id="294" name="Google Shape;294;p17"/>
          <p:cNvSpPr txBox="1"/>
          <p:nvPr>
            <p:ph idx="1" type="body"/>
          </p:nvPr>
        </p:nvSpPr>
        <p:spPr>
          <a:xfrm>
            <a:off x="457200" y="1143000"/>
            <a:ext cx="8305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Discretionary Access Control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Rights defined on specific (subject, object), decided by individual owners (as oppose to 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Mandatory Access Control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decided by system policies)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HRU work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Formulating access matrices, towards Operating Systems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 model that is sufficiently powerful to encode several access control approaches, and precise enough so that security properties can be analyzed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the “safety problem”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the safety problem 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decidable in certain cases 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undecidable in general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undecidable in monotonic case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02" name="Google Shape;302;p1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Primitive Operations</a:t>
            </a:r>
            <a:endParaRPr/>
          </a:p>
        </p:txBody>
      </p:sp>
      <p:sp>
        <p:nvSpPr>
          <p:cNvPr id="303" name="Google Shape;303;p1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subject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object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2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new row, column in ACM; creates new column in ACM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destroy subject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destroy object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2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Deletes row, column from ACM; deletes column from ACM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Adds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rights for subject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 object 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Removes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rights from subject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 object  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11" name="Google Shape;311;p1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Creating File</a:t>
            </a:r>
            <a:endParaRPr/>
          </a:p>
        </p:txBody>
      </p:sp>
      <p:sp>
        <p:nvSpPr>
          <p:cNvPr id="312" name="Google Shape;312;p19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creates file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permission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command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create•file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create object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enter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own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into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enter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into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enter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into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end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20" name="Google Shape;320;p2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Mono-Operational Commands</a:t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process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owner of file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command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make•owner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enter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own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into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Mono-operational command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primitive operation in this command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29" name="Google Shape;329;p2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Conditional Commands</a:t>
            </a:r>
            <a:endParaRPr/>
          </a:p>
        </p:txBody>
      </p:sp>
      <p:sp>
        <p:nvSpPr>
          <p:cNvPr id="330" name="Google Shape;330;p2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give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rights over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if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owns </a:t>
            </a: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command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grant•read•file•1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 b="0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own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then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enter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into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[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0" i="1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</a:t>
            </a:r>
            <a:endParaRPr/>
          </a:p>
          <a:p>
            <a:pPr indent="-342900" lvl="0" marL="34290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1" i="0" lang="en-US" sz="2100" u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end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Mono-conditional command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condition in this command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38" name="Google Shape;338;p2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Discretionary Access Control (DAC)</a:t>
            </a:r>
            <a:endParaRPr/>
          </a:p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precise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Widely used in modern operating systems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has the notion of owner of an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owner controls other users’ accesses to the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access rights to be propagated to other subjects</a:t>
            </a:r>
            <a:endParaRPr/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47" name="Google Shape;347;p2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Drawbacks in DAC</a:t>
            </a:r>
            <a:endParaRPr/>
          </a:p>
        </p:txBody>
      </p:sp>
      <p:sp>
        <p:nvSpPr>
          <p:cNvPr id="348" name="Google Shape;348;p2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DAC cannot protect against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Trojan horse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Malware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bugs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Malicious local users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control information flow</a:t>
            </a:r>
            <a:endParaRPr/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356" name="Google Shape;356;p24"/>
          <p:cNvSpPr txBox="1"/>
          <p:nvPr>
            <p:ph type="title"/>
          </p:nvPr>
        </p:nvSpPr>
        <p:spPr>
          <a:xfrm>
            <a:off x="457200" y="28956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Mandatory Access Control (MAC)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364" name="Google Shape;364;p25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 Access Control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 classification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grades=(confidential, {student-info})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Subjects: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 clearances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Joe=(confidential, {student-info})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rules: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defined by comparing the security classification of the requested objects with the security clearance of the subject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subject can read object only if label(subject) dominates label(object)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71" name="Google Shape;371;p2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373" name="Google Shape;373;p26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 Access Control</a:t>
            </a:r>
            <a:endParaRPr/>
          </a:p>
        </p:txBody>
      </p:sp>
      <p:sp>
        <p:nvSpPr>
          <p:cNvPr id="374" name="Google Shape;374;p26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rules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satisfied, access is permitted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Joe wants to read grades.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label(Joe)=(confidential,{student-info})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label(grades)=(confidential,{student-info})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Joe is permitted to read grades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Granularity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access rights!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382" name="Google Shape;382;p27"/>
          <p:cNvSpPr txBox="1"/>
          <p:nvPr/>
        </p:nvSpPr>
        <p:spPr>
          <a:xfrm>
            <a:off x="1093787" y="284162"/>
            <a:ext cx="7772400" cy="858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 Access Control</a:t>
            </a:r>
            <a:endParaRPr/>
          </a:p>
        </p:txBody>
      </p:sp>
      <p:sp>
        <p:nvSpPr>
          <p:cNvPr id="383" name="Google Shape;383;p27"/>
          <p:cNvSpPr txBox="1"/>
          <p:nvPr/>
        </p:nvSpPr>
        <p:spPr>
          <a:xfrm>
            <a:off x="1143000" y="1143000"/>
            <a:ext cx="6819900" cy="143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Classes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(labels): (A,C)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– total order authority level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– set of categories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	A = confidential &gt; public , C = {student-info, dept-info}</a:t>
            </a:r>
            <a:endParaRPr/>
          </a:p>
        </p:txBody>
      </p:sp>
      <p:sp>
        <p:nvSpPr>
          <p:cNvPr id="384" name="Google Shape;384;p27"/>
          <p:cNvSpPr txBox="1"/>
          <p:nvPr/>
        </p:nvSpPr>
        <p:spPr>
          <a:xfrm>
            <a:off x="3276600" y="4038600"/>
            <a:ext cx="1933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(confidential,{ })</a:t>
            </a:r>
            <a:endParaRPr/>
          </a:p>
        </p:txBody>
      </p:sp>
      <p:cxnSp>
        <p:nvCxnSpPr>
          <p:cNvPr id="385" name="Google Shape;385;p27"/>
          <p:cNvCxnSpPr/>
          <p:nvPr/>
        </p:nvCxnSpPr>
        <p:spPr>
          <a:xfrm flipH="1" rot="10800000">
            <a:off x="4267200" y="3810000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6" name="Google Shape;386;p27"/>
          <p:cNvCxnSpPr/>
          <p:nvPr/>
        </p:nvCxnSpPr>
        <p:spPr>
          <a:xfrm>
            <a:off x="1371600" y="3733800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7" name="Google Shape;387;p27"/>
          <p:cNvCxnSpPr/>
          <p:nvPr/>
        </p:nvCxnSpPr>
        <p:spPr>
          <a:xfrm>
            <a:off x="4343400" y="4419600"/>
            <a:ext cx="990600" cy="12954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8" name="Google Shape;388;p27"/>
          <p:cNvSpPr txBox="1"/>
          <p:nvPr/>
        </p:nvSpPr>
        <p:spPr>
          <a:xfrm>
            <a:off x="5410200" y="3352800"/>
            <a:ext cx="27987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(confidential,{dept-info})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2286000" y="2819400"/>
            <a:ext cx="40862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(confidential,{student-info,dept-info})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304800" y="3352800"/>
            <a:ext cx="3094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(confidential,{student-info})</a:t>
            </a:r>
            <a:endParaRPr/>
          </a:p>
        </p:txBody>
      </p:sp>
      <p:sp>
        <p:nvSpPr>
          <p:cNvPr id="391" name="Google Shape;391;p27"/>
          <p:cNvSpPr txBox="1"/>
          <p:nvPr/>
        </p:nvSpPr>
        <p:spPr>
          <a:xfrm>
            <a:off x="3962400" y="4572000"/>
            <a:ext cx="35099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(public,{student-info,dept-info})</a:t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6781800" y="4953000"/>
            <a:ext cx="2286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(public,{,dept-info})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5029200" y="5562600"/>
            <a:ext cx="13573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(public,{ })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1600200" y="4876800"/>
            <a:ext cx="25177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(public,{student-info})</a:t>
            </a:r>
            <a:endParaRPr/>
          </a:p>
        </p:txBody>
      </p:sp>
      <p:cxnSp>
        <p:nvCxnSpPr>
          <p:cNvPr id="395" name="Google Shape;395;p27"/>
          <p:cNvCxnSpPr/>
          <p:nvPr/>
        </p:nvCxnSpPr>
        <p:spPr>
          <a:xfrm>
            <a:off x="4038600" y="3148012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6" name="Google Shape;396;p27"/>
          <p:cNvCxnSpPr/>
          <p:nvPr/>
        </p:nvCxnSpPr>
        <p:spPr>
          <a:xfrm flipH="1" rot="10800000">
            <a:off x="2514600" y="4672012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7" name="Google Shape;397;p27"/>
          <p:cNvCxnSpPr/>
          <p:nvPr/>
        </p:nvCxnSpPr>
        <p:spPr>
          <a:xfrm flipH="1" rot="10800000">
            <a:off x="5410200" y="5281612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8" name="Google Shape;398;p27"/>
          <p:cNvCxnSpPr/>
          <p:nvPr/>
        </p:nvCxnSpPr>
        <p:spPr>
          <a:xfrm flipH="1" rot="10800000">
            <a:off x="1143000" y="3148012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9" name="Google Shape;399;p27"/>
          <p:cNvCxnSpPr/>
          <p:nvPr/>
        </p:nvCxnSpPr>
        <p:spPr>
          <a:xfrm>
            <a:off x="2667000" y="5281612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0" name="Google Shape;400;p27"/>
          <p:cNvCxnSpPr/>
          <p:nvPr/>
        </p:nvCxnSpPr>
        <p:spPr>
          <a:xfrm>
            <a:off x="5181600" y="4648200"/>
            <a:ext cx="2590800" cy="3810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1" name="Google Shape;401;p27"/>
          <p:cNvCxnSpPr/>
          <p:nvPr/>
        </p:nvCxnSpPr>
        <p:spPr>
          <a:xfrm>
            <a:off x="1295400" y="3757612"/>
            <a:ext cx="990600" cy="12954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2" name="Google Shape;402;p27"/>
          <p:cNvCxnSpPr/>
          <p:nvPr/>
        </p:nvCxnSpPr>
        <p:spPr>
          <a:xfrm>
            <a:off x="6858000" y="3757612"/>
            <a:ext cx="990600" cy="12954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3" name="Google Shape;403;p27"/>
          <p:cNvCxnSpPr/>
          <p:nvPr/>
        </p:nvCxnSpPr>
        <p:spPr>
          <a:xfrm>
            <a:off x="4038600" y="3224212"/>
            <a:ext cx="990600" cy="1295400"/>
          </a:xfrm>
          <a:prstGeom prst="straightConnector1">
            <a:avLst/>
          </a:prstGeom>
          <a:noFill/>
          <a:ln cap="sq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10" name="Google Shape;410;p2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411" name="Google Shape;411;p28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Mandatory Access Control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533400" y="18288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Dominance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(≥): label l=(A,C) dominates l’=(A’,C’) iff  A ≥ A’ and C ⊇ C’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(confidential,{student-info})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(public,{student-info})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BUT NOT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(confidential, {student-info})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(public,{student-info, department-info}) 	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420" name="Google Shape;420;p29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Bell- LaPadula (BLP) Model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Confidentiality protection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Lattice-based access control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Subjects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labels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decentralized administration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429" name="Google Shape;429;p30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BLP Reference Monitor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accesses are controlled by the reference monitor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be bypassed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is allowed iff the resulting system state satisfies all security properties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1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Trusted subjects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subjects trusted not to compromise security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438" name="Google Shape;438;p31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BLP Axioms </a:t>
            </a:r>
            <a:r>
              <a:rPr b="0" i="0" lang="en-US" sz="34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.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Simple-security property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subject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allowed to  read an object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if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security label of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dominates the security label of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read up</a:t>
            </a:r>
            <a:endParaRPr/>
          </a:p>
          <a:p>
            <a:pPr indent="-325436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Applies to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subjects</a:t>
            </a:r>
            <a:endParaRPr/>
          </a:p>
          <a:p>
            <a:pPr indent="-325437" lvl="1" marL="66992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Subject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read object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iff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≤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permission to read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0837" lvl="2" marL="102235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combines mandatory control (relationship of security levels) and discretionary control (the required permission)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45" name="Google Shape;445;p3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46" name="Google Shape;446;p3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47" name="Google Shape;447;p32"/>
          <p:cNvSpPr txBox="1"/>
          <p:nvPr/>
        </p:nvSpPr>
        <p:spPr>
          <a:xfrm>
            <a:off x="609600" y="1600200"/>
            <a:ext cx="7924800" cy="530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*-property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subject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allowed to write an object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if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security label of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dominates the security label of </a:t>
            </a:r>
            <a:r>
              <a:rPr b="0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  <a:p>
            <a:pPr indent="-124459" lvl="1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write down</a:t>
            </a:r>
            <a:endParaRPr/>
          </a:p>
          <a:p>
            <a:pPr indent="-124459" lvl="1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to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un-trusted subjects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</a:t>
            </a:r>
            <a:endParaRPr/>
          </a:p>
          <a:p>
            <a:pPr indent="-106680" lvl="2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write object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≤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permission to write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  <a:p>
            <a:pPr indent="-106680" lvl="2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combines mandatory control (relationship of security levels) and discretionary control (the required permission)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1371600" y="609600"/>
            <a:ext cx="36274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BLP Axioms </a:t>
            </a: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56" name="Google Shape;456;p3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</a:t>
            </a:r>
            <a:endParaRPr/>
          </a:p>
        </p:txBody>
      </p:sp>
      <p:graphicFrame>
        <p:nvGraphicFramePr>
          <p:cNvPr id="457" name="Google Shape;457;p33"/>
          <p:cNvGraphicFramePr/>
          <p:nvPr/>
        </p:nvGraphicFramePr>
        <p:xfrm>
          <a:off x="6985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{BB2DE75F-9C77-4C34-86C8-5E01BBA945D2}</a:tableStyleId>
              </a:tblPr>
              <a:tblGrid>
                <a:gridCol w="2662225"/>
                <a:gridCol w="1695450"/>
                <a:gridCol w="3630600"/>
              </a:tblGrid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1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 level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1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subject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1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Secret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Tamara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Personnel Files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Secret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Samuel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E-Mail Files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Confidential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Claire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 Logs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Unclassified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Ulaley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0" i="0" lang="en-US" sz="2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Telephone Lists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8" name="Google Shape;458;p33"/>
          <p:cNvSpPr txBox="1"/>
          <p:nvPr/>
        </p:nvSpPr>
        <p:spPr>
          <a:xfrm>
            <a:off x="914400" y="4876800"/>
            <a:ext cx="7521575" cy="1223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2250" lvl="0" marL="2222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Tamara can read all files</a:t>
            </a:r>
            <a:endParaRPr/>
          </a:p>
          <a:p>
            <a:pPr indent="-222250" lvl="0" marL="22225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Claire cannot read Personnel or E-Mail Files</a:t>
            </a:r>
            <a:endParaRPr/>
          </a:p>
          <a:p>
            <a:pPr indent="-222250" lvl="0" marL="22225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Ulaley can only read Telephone Lists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65" name="Google Shape;465;p3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66" name="Google Shape;466;p3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Levels and Lattices</a:t>
            </a:r>
            <a:endParaRPr/>
          </a:p>
        </p:txBody>
      </p:sp>
      <p:sp>
        <p:nvSpPr>
          <p:cNvPr id="467" name="Google Shape;467;p34"/>
          <p:cNvSpPr txBox="1"/>
          <p:nvPr>
            <p:ph idx="1" type="body"/>
          </p:nvPr>
        </p:nvSpPr>
        <p:spPr>
          <a:xfrm>
            <a:off x="685800" y="1981200"/>
            <a:ext cx="8077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level is (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clearance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set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Top Secret, { NUC, EUR, ASI } )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Confidential, { EUR, ASI } )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Secret, { NUC, ASI } 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A′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C′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iff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′ ≤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C′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⊆ </a:t>
            </a:r>
            <a:r>
              <a:rPr b="0" i="1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(Top Secret, {NUC, ASI})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(Secret, {NUC})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(Secret, {NUC, EUR}) 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(Confidential,{NUC, EUR})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(Top Secret, {NUC}) ¬</a:t>
            </a:r>
            <a:r>
              <a:rPr b="0" i="1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(Confidential, {EUR})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74" name="Google Shape;474;p3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75" name="Google Shape;475;p35"/>
          <p:cNvSpPr txBox="1"/>
          <p:nvPr/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MAC Overview</a:t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-325436" lvl="1" marL="669925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secure</a:t>
            </a:r>
            <a:endParaRPr/>
          </a:p>
          <a:p>
            <a:pPr indent="-325436" lvl="1" marL="669925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enforcement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-325436" lvl="1" marL="669925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too restrictive</a:t>
            </a:r>
            <a:endParaRPr/>
          </a:p>
          <a:p>
            <a:pPr indent="-325436" lvl="1" marL="669925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additional mechanisms to implement multi-level security system</a:t>
            </a:r>
            <a:endParaRPr/>
          </a:p>
          <a:p>
            <a:pPr indent="-325436" lvl="1" marL="669925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administration is difficult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82" name="Google Shape;482;p3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83" name="Google Shape;483;p3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84" name="Google Shape;484;p36"/>
          <p:cNvSpPr txBox="1"/>
          <p:nvPr/>
        </p:nvSpPr>
        <p:spPr>
          <a:xfrm>
            <a:off x="838200" y="2819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Garamond"/>
              <a:buNone/>
            </a:pPr>
            <a:r>
              <a:rPr b="0" i="0" lang="en-US" sz="50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Role-Based Access Control</a:t>
            </a:r>
            <a:br>
              <a:rPr b="0" i="0" lang="en-US" sz="50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50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(RBAC)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90" name="Google Shape;490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492" name="Google Shape;492;p3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 Motivation</a:t>
            </a:r>
            <a:endParaRPr/>
          </a:p>
        </p:txBody>
      </p:sp>
      <p:sp>
        <p:nvSpPr>
          <p:cNvPr id="493" name="Google Shape;493;p37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Multi-user systems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Multi-application systems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Permissions are associated with roles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Role-permission assignments are persistent v.s. user-permission assignments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Intuitive: competency, authority and responsibility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499" name="Google Shape;499;p3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00" name="Google Shape;500;p3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Motivation</a:t>
            </a:r>
            <a:endParaRPr/>
          </a:p>
        </p:txBody>
      </p:sp>
      <p:sp>
        <p:nvSpPr>
          <p:cNvPr id="502" name="Google Shape;502;p3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 organizational policies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Separation of duties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Delegation of authority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Flexible: easy to modify to meet new security requirements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Least-privilege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Separation of duties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abstraction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08" name="Google Shape;508;p3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09" name="Google Shape;509;p3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10" name="Google Shape;510;p3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Roles</a:t>
            </a:r>
            <a:endParaRPr/>
          </a:p>
        </p:txBody>
      </p:sp>
      <p:sp>
        <p:nvSpPr>
          <p:cNvPr id="511" name="Google Shape;511;p39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group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collection of user with possibly different permissions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mediator between collection of users and collection of permissions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RBAC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independent from DAC and MAC (they may coexist)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RBAC is </a:t>
            </a:r>
            <a:r>
              <a:rPr b="1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policy neutral</a:t>
            </a: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configuration of RBAC determines the policy to be enforced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17" name="Google Shape;517;p4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18" name="Google Shape;518;p4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19" name="Google Shape;519;p4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endParaRPr/>
          </a:p>
        </p:txBody>
      </p:sp>
      <p:cxnSp>
        <p:nvCxnSpPr>
          <p:cNvPr id="520" name="Google Shape;520;p40"/>
          <p:cNvCxnSpPr/>
          <p:nvPr/>
        </p:nvCxnSpPr>
        <p:spPr>
          <a:xfrm flipH="1">
            <a:off x="2209800" y="2667000"/>
            <a:ext cx="2286000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1" name="Google Shape;521;p40"/>
          <p:cNvCxnSpPr/>
          <p:nvPr/>
        </p:nvCxnSpPr>
        <p:spPr>
          <a:xfrm flipH="1">
            <a:off x="4495800" y="3962400"/>
            <a:ext cx="2286000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2" name="Google Shape;522;p40"/>
          <p:cNvCxnSpPr/>
          <p:nvPr/>
        </p:nvCxnSpPr>
        <p:spPr>
          <a:xfrm>
            <a:off x="2209800" y="3962400"/>
            <a:ext cx="2286000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3" name="Google Shape;523;p40"/>
          <p:cNvCxnSpPr/>
          <p:nvPr/>
        </p:nvCxnSpPr>
        <p:spPr>
          <a:xfrm rot="10800000">
            <a:off x="4495800" y="2667000"/>
            <a:ext cx="2286000" cy="129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4" name="Google Shape;524;p40"/>
          <p:cNvSpPr txBox="1"/>
          <p:nvPr/>
        </p:nvSpPr>
        <p:spPr>
          <a:xfrm>
            <a:off x="2819400" y="2057400"/>
            <a:ext cx="3541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RBAC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consolidated model</a:t>
            </a:r>
            <a:endParaRPr/>
          </a:p>
        </p:txBody>
      </p:sp>
      <p:sp>
        <p:nvSpPr>
          <p:cNvPr id="525" name="Google Shape;525;p40"/>
          <p:cNvSpPr txBox="1"/>
          <p:nvPr/>
        </p:nvSpPr>
        <p:spPr>
          <a:xfrm>
            <a:off x="304800" y="3429000"/>
            <a:ext cx="18827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RBAC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hierarchy</a:t>
            </a:r>
            <a:endParaRPr/>
          </a:p>
        </p:txBody>
      </p:sp>
      <p:sp>
        <p:nvSpPr>
          <p:cNvPr id="526" name="Google Shape;526;p40"/>
          <p:cNvSpPr txBox="1"/>
          <p:nvPr/>
        </p:nvSpPr>
        <p:spPr>
          <a:xfrm>
            <a:off x="6858000" y="3505200"/>
            <a:ext cx="15033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RBAC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endParaRPr/>
          </a:p>
        </p:txBody>
      </p:sp>
      <p:sp>
        <p:nvSpPr>
          <p:cNvPr id="527" name="Google Shape;527;p40"/>
          <p:cNvSpPr txBox="1"/>
          <p:nvPr/>
        </p:nvSpPr>
        <p:spPr>
          <a:xfrm>
            <a:off x="3276600" y="5257800"/>
            <a:ext cx="2570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RBAC</a:t>
            </a:r>
            <a:r>
              <a:rPr b="0" baseline="-25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 model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33" name="Google Shape;533;p4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34" name="Google Shape;534;p4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35" name="Google Shape;535;p4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endParaRPr/>
          </a:p>
        </p:txBody>
      </p:sp>
      <p:sp>
        <p:nvSpPr>
          <p:cNvPr id="536" name="Google Shape;536;p41"/>
          <p:cNvSpPr txBox="1"/>
          <p:nvPr/>
        </p:nvSpPr>
        <p:spPr>
          <a:xfrm>
            <a:off x="2819400" y="4648200"/>
            <a:ext cx="26035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cxnSp>
        <p:nvCxnSpPr>
          <p:cNvPr id="537" name="Google Shape;537;p41"/>
          <p:cNvCxnSpPr/>
          <p:nvPr/>
        </p:nvCxnSpPr>
        <p:spPr>
          <a:xfrm flipH="1" rot="10800000">
            <a:off x="2819400" y="4038600"/>
            <a:ext cx="838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38" name="Google Shape;538;p41"/>
          <p:cNvSpPr/>
          <p:nvPr/>
        </p:nvSpPr>
        <p:spPr>
          <a:xfrm>
            <a:off x="1066800" y="2743200"/>
            <a:ext cx="1295400" cy="12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2667000" y="4038600"/>
            <a:ext cx="533400" cy="1752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6705600" y="2743200"/>
            <a:ext cx="1295400" cy="12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3886200" y="2743200"/>
            <a:ext cx="1295400" cy="1295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1"/>
          <p:cNvSpPr txBox="1"/>
          <p:nvPr/>
        </p:nvSpPr>
        <p:spPr>
          <a:xfrm>
            <a:off x="1295400" y="2895600"/>
            <a:ext cx="8794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</a:t>
            </a:r>
            <a:endParaRPr/>
          </a:p>
        </p:txBody>
      </p:sp>
      <p:sp>
        <p:nvSpPr>
          <p:cNvPr id="543" name="Google Shape;543;p41"/>
          <p:cNvSpPr txBox="1"/>
          <p:nvPr/>
        </p:nvSpPr>
        <p:spPr>
          <a:xfrm>
            <a:off x="4038600" y="2971800"/>
            <a:ext cx="8778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</a:t>
            </a:r>
            <a:endParaRPr/>
          </a:p>
        </p:txBody>
      </p:sp>
      <p:sp>
        <p:nvSpPr>
          <p:cNvPr id="544" name="Google Shape;544;p41"/>
          <p:cNvSpPr txBox="1"/>
          <p:nvPr/>
        </p:nvSpPr>
        <p:spPr>
          <a:xfrm>
            <a:off x="6629400" y="3048000"/>
            <a:ext cx="140811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Permissions</a:t>
            </a:r>
            <a:endParaRPr/>
          </a:p>
        </p:txBody>
      </p:sp>
      <p:sp>
        <p:nvSpPr>
          <p:cNvPr id="545" name="Google Shape;545;p41"/>
          <p:cNvSpPr/>
          <p:nvPr/>
        </p:nvSpPr>
        <p:spPr>
          <a:xfrm>
            <a:off x="2819400" y="42672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1"/>
          <p:cNvSpPr/>
          <p:nvPr/>
        </p:nvSpPr>
        <p:spPr>
          <a:xfrm>
            <a:off x="2819400" y="44958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1"/>
          <p:cNvSpPr/>
          <p:nvPr/>
        </p:nvSpPr>
        <p:spPr>
          <a:xfrm>
            <a:off x="2819400" y="541020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1"/>
          <p:cNvSpPr txBox="1"/>
          <p:nvPr/>
        </p:nvSpPr>
        <p:spPr>
          <a:xfrm>
            <a:off x="2803525" y="4841875"/>
            <a:ext cx="26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549" name="Google Shape;549;p41"/>
          <p:cNvSpPr txBox="1"/>
          <p:nvPr/>
        </p:nvSpPr>
        <p:spPr>
          <a:xfrm>
            <a:off x="1279525" y="4918075"/>
            <a:ext cx="12350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Sessions</a:t>
            </a:r>
            <a:endParaRPr/>
          </a:p>
        </p:txBody>
      </p:sp>
      <p:cxnSp>
        <p:nvCxnSpPr>
          <p:cNvPr id="550" name="Google Shape;550;p41"/>
          <p:cNvCxnSpPr/>
          <p:nvPr/>
        </p:nvCxnSpPr>
        <p:spPr>
          <a:xfrm>
            <a:off x="2362200" y="3352800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551" name="Google Shape;551;p41"/>
          <p:cNvCxnSpPr/>
          <p:nvPr/>
        </p:nvCxnSpPr>
        <p:spPr>
          <a:xfrm>
            <a:off x="2590800" y="3352800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552" name="Google Shape;552;p41"/>
          <p:cNvCxnSpPr/>
          <p:nvPr/>
        </p:nvCxnSpPr>
        <p:spPr>
          <a:xfrm>
            <a:off x="5181600" y="3352800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553" name="Google Shape;553;p41"/>
          <p:cNvCxnSpPr/>
          <p:nvPr/>
        </p:nvCxnSpPr>
        <p:spPr>
          <a:xfrm>
            <a:off x="5410200" y="3352800"/>
            <a:ext cx="106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554" name="Google Shape;554;p41"/>
          <p:cNvCxnSpPr/>
          <p:nvPr/>
        </p:nvCxnSpPr>
        <p:spPr>
          <a:xfrm rot="10800000">
            <a:off x="2286000" y="38100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5" name="Google Shape;555;p41"/>
          <p:cNvCxnSpPr/>
          <p:nvPr/>
        </p:nvCxnSpPr>
        <p:spPr>
          <a:xfrm rot="10800000">
            <a:off x="2133600" y="38862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6" name="Google Shape;556;p41"/>
          <p:cNvCxnSpPr/>
          <p:nvPr/>
        </p:nvCxnSpPr>
        <p:spPr>
          <a:xfrm rot="10800000">
            <a:off x="1676400" y="4038600"/>
            <a:ext cx="12192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7" name="Google Shape;557;p41"/>
          <p:cNvCxnSpPr/>
          <p:nvPr/>
        </p:nvCxnSpPr>
        <p:spPr>
          <a:xfrm flipH="1" rot="10800000">
            <a:off x="2895600" y="3657600"/>
            <a:ext cx="9906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8" name="Google Shape;558;p41"/>
          <p:cNvCxnSpPr/>
          <p:nvPr/>
        </p:nvCxnSpPr>
        <p:spPr>
          <a:xfrm flipH="1" rot="10800000">
            <a:off x="2895600" y="3810000"/>
            <a:ext cx="1066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59" name="Google Shape;559;p41"/>
          <p:cNvCxnSpPr/>
          <p:nvPr/>
        </p:nvCxnSpPr>
        <p:spPr>
          <a:xfrm flipH="1" rot="10800000">
            <a:off x="2895600" y="4038600"/>
            <a:ext cx="14478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0" name="Google Shape;560;p41"/>
          <p:cNvCxnSpPr/>
          <p:nvPr/>
        </p:nvCxnSpPr>
        <p:spPr>
          <a:xfrm flipH="1" rot="10800000">
            <a:off x="2895600" y="3810000"/>
            <a:ext cx="762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561" name="Google Shape;561;p41"/>
          <p:cNvCxnSpPr/>
          <p:nvPr/>
        </p:nvCxnSpPr>
        <p:spPr>
          <a:xfrm flipH="1" rot="10800000">
            <a:off x="2895600" y="4267200"/>
            <a:ext cx="1219200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562" name="Google Shape;562;p41"/>
          <p:cNvSpPr txBox="1"/>
          <p:nvPr/>
        </p:nvSpPr>
        <p:spPr>
          <a:xfrm>
            <a:off x="2286000" y="2895600"/>
            <a:ext cx="1554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User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  <p:sp>
        <p:nvSpPr>
          <p:cNvPr id="563" name="Google Shape;563;p41"/>
          <p:cNvSpPr txBox="1"/>
          <p:nvPr/>
        </p:nvSpPr>
        <p:spPr>
          <a:xfrm>
            <a:off x="5181600" y="2895600"/>
            <a:ext cx="1554162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Permission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69" name="Google Shape;569;p4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70" name="Google Shape;570;p4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71" name="Google Shape;571;p4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endParaRPr/>
          </a:p>
        </p:txBody>
      </p:sp>
      <p:sp>
        <p:nvSpPr>
          <p:cNvPr id="572" name="Google Shape;572;p4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User: human beings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Role: job function (title)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Permission: approval of a mode of access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positive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representation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apply to single object or to many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79" name="Google Shape;579;p4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80" name="Google Shape;580;p4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endParaRPr/>
          </a:p>
        </p:txBody>
      </p:sp>
      <p:sp>
        <p:nvSpPr>
          <p:cNvPr id="581" name="Google Shape;581;p4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UA: user assignments 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PA: Permission assignment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Session: mapping of a user to possibly many roles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roles can be activated simultaneously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Permissions: union of permissions from all roles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session is associated with a single user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may have multiple sessions at the same time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87" name="Google Shape;587;p4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88" name="Google Shape;588;p4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 Components</a:t>
            </a:r>
            <a:endParaRPr/>
          </a:p>
        </p:txBody>
      </p:sp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sers,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oles,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ermissions, 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 ⊆ P x R (many-to-many)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UA ⊆ U x R (many-to-many)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user: S 🡪 U, mapping each session s</a:t>
            </a:r>
            <a:r>
              <a:rPr b="0" baseline="-2500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single user user(s</a:t>
            </a:r>
            <a:r>
              <a:rPr b="0" baseline="-2500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roles: S 🡪 2</a:t>
            </a:r>
            <a:r>
              <a:rPr b="0" baseline="3000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mapping each session s</a:t>
            </a:r>
            <a:r>
              <a:rPr b="0" baseline="-2500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set of roles: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roles(s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⊆  {r | (user(s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),r) ∈ UA} and s</a:t>
            </a:r>
            <a:r>
              <a:rPr b="0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permissions    ∪ </a:t>
            </a:r>
            <a:r>
              <a:rPr b="0" baseline="-2500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r∈roles(si)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{p | (p,r) ∈ PA}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596" name="Google Shape;596;p4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597" name="Google Shape;597;p4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598" name="Google Shape;598;p4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0</a:t>
            </a:r>
            <a:endParaRPr/>
          </a:p>
        </p:txBody>
      </p:sp>
      <p:sp>
        <p:nvSpPr>
          <p:cNvPr id="599" name="Google Shape;599;p4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Permissions apply to data and resource objects only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Permissions do NOT apply to RBAC components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Administrative permissions: modify U,R,S,P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Session: under the control of user to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any subset of permitted roles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roles within a session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05" name="Google Shape;605;p4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06" name="Google Shape;606;p4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607" name="Google Shape;607;p4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608" name="Google Shape;608;p4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Structuring roles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of permission from junior role (bottom) to senior role (top)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 order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Reflexive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Transitive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Anti-symmetric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14" name="Google Shape;614;p4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15" name="Google Shape;615;p4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616" name="Google Shape;616;p4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grpSp>
        <p:nvGrpSpPr>
          <p:cNvPr id="617" name="Google Shape;617;p47"/>
          <p:cNvGrpSpPr/>
          <p:nvPr/>
        </p:nvGrpSpPr>
        <p:grpSpPr>
          <a:xfrm>
            <a:off x="1066800" y="1981200"/>
            <a:ext cx="6970712" cy="3657600"/>
            <a:chOff x="672" y="1344"/>
            <a:chExt cx="4391" cy="2304"/>
          </a:xfrm>
        </p:grpSpPr>
        <p:grpSp>
          <p:nvGrpSpPr>
            <p:cNvPr id="618" name="Google Shape;618;p47"/>
            <p:cNvGrpSpPr/>
            <p:nvPr/>
          </p:nvGrpSpPr>
          <p:grpSpPr>
            <a:xfrm>
              <a:off x="672" y="1344"/>
              <a:ext cx="4391" cy="2304"/>
              <a:chOff x="528" y="1344"/>
              <a:chExt cx="4391" cy="2304"/>
            </a:xfrm>
          </p:grpSpPr>
          <p:sp>
            <p:nvSpPr>
              <p:cNvPr id="619" name="Google Shape;619;p47"/>
              <p:cNvSpPr txBox="1"/>
              <p:nvPr/>
            </p:nvSpPr>
            <p:spPr>
              <a:xfrm>
                <a:off x="1632" y="2928"/>
                <a:ext cx="164" cy="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0" i="0" lang="en-US" sz="24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  <p:grpSp>
            <p:nvGrpSpPr>
              <p:cNvPr id="620" name="Google Shape;620;p47"/>
              <p:cNvGrpSpPr/>
              <p:nvPr/>
            </p:nvGrpSpPr>
            <p:grpSpPr>
              <a:xfrm>
                <a:off x="528" y="1344"/>
                <a:ext cx="4391" cy="2304"/>
                <a:chOff x="672" y="576"/>
                <a:chExt cx="4391" cy="2304"/>
              </a:xfrm>
            </p:grpSpPr>
            <p:cxnSp>
              <p:nvCxnSpPr>
                <p:cNvPr id="621" name="Google Shape;621;p47"/>
                <p:cNvCxnSpPr/>
                <p:nvPr/>
              </p:nvCxnSpPr>
              <p:spPr>
                <a:xfrm flipH="1" rot="10800000">
                  <a:off x="1776" y="1776"/>
                  <a:ext cx="528" cy="3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stealth"/>
                </a:ln>
              </p:spPr>
            </p:cxnSp>
            <p:grpSp>
              <p:nvGrpSpPr>
                <p:cNvPr id="622" name="Google Shape;622;p47"/>
                <p:cNvGrpSpPr/>
                <p:nvPr/>
              </p:nvGrpSpPr>
              <p:grpSpPr>
                <a:xfrm>
                  <a:off x="672" y="576"/>
                  <a:ext cx="4391" cy="2304"/>
                  <a:chOff x="480" y="1392"/>
                  <a:chExt cx="4391" cy="2304"/>
                </a:xfrm>
              </p:grpSpPr>
              <p:sp>
                <p:nvSpPr>
                  <p:cNvPr id="623" name="Google Shape;623;p47"/>
                  <p:cNvSpPr/>
                  <p:nvPr/>
                </p:nvSpPr>
                <p:spPr>
                  <a:xfrm>
                    <a:off x="480" y="1776"/>
                    <a:ext cx="816" cy="816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4" name="Google Shape;624;p47"/>
                  <p:cNvSpPr/>
                  <p:nvPr/>
                </p:nvSpPr>
                <p:spPr>
                  <a:xfrm>
                    <a:off x="1488" y="2592"/>
                    <a:ext cx="336" cy="1104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5" name="Google Shape;625;p47"/>
                  <p:cNvSpPr/>
                  <p:nvPr/>
                </p:nvSpPr>
                <p:spPr>
                  <a:xfrm>
                    <a:off x="4032" y="1776"/>
                    <a:ext cx="816" cy="816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6" name="Google Shape;626;p47"/>
                  <p:cNvSpPr/>
                  <p:nvPr/>
                </p:nvSpPr>
                <p:spPr>
                  <a:xfrm>
                    <a:off x="2256" y="1776"/>
                    <a:ext cx="816" cy="816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7" name="Google Shape;627;p47"/>
                  <p:cNvSpPr txBox="1"/>
                  <p:nvPr/>
                </p:nvSpPr>
                <p:spPr>
                  <a:xfrm>
                    <a:off x="624" y="1872"/>
                    <a:ext cx="554" cy="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   U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Users</a:t>
                    </a:r>
                    <a:endParaRPr/>
                  </a:p>
                </p:txBody>
              </p:sp>
              <p:sp>
                <p:nvSpPr>
                  <p:cNvPr id="628" name="Google Shape;628;p47"/>
                  <p:cNvSpPr txBox="1"/>
                  <p:nvPr/>
                </p:nvSpPr>
                <p:spPr>
                  <a:xfrm>
                    <a:off x="2352" y="1920"/>
                    <a:ext cx="553" cy="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   R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Roles</a:t>
                    </a:r>
                    <a:endParaRPr/>
                  </a:p>
                </p:txBody>
              </p:sp>
              <p:sp>
                <p:nvSpPr>
                  <p:cNvPr id="629" name="Google Shape;629;p47"/>
                  <p:cNvSpPr txBox="1"/>
                  <p:nvPr/>
                </p:nvSpPr>
                <p:spPr>
                  <a:xfrm>
                    <a:off x="3984" y="1968"/>
                    <a:ext cx="887" cy="4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      P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Times New Roman"/>
                      <a:buNone/>
                    </a:pPr>
                    <a:r>
                      <a:rPr b="0" i="0" lang="en-US" sz="20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Permissions</a:t>
                    </a:r>
                    <a:endParaRPr/>
                  </a:p>
                </p:txBody>
              </p:sp>
              <p:sp>
                <p:nvSpPr>
                  <p:cNvPr id="630" name="Google Shape;630;p47"/>
                  <p:cNvSpPr/>
                  <p:nvPr/>
                </p:nvSpPr>
                <p:spPr>
                  <a:xfrm>
                    <a:off x="1584" y="273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1" name="Google Shape;631;p47"/>
                  <p:cNvSpPr/>
                  <p:nvPr/>
                </p:nvSpPr>
                <p:spPr>
                  <a:xfrm>
                    <a:off x="1584" y="2880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2" name="Google Shape;632;p47"/>
                  <p:cNvSpPr/>
                  <p:nvPr/>
                </p:nvSpPr>
                <p:spPr>
                  <a:xfrm>
                    <a:off x="1584" y="3456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3" name="Google Shape;633;p47"/>
                  <p:cNvSpPr txBox="1"/>
                  <p:nvPr/>
                </p:nvSpPr>
                <p:spPr>
                  <a:xfrm>
                    <a:off x="1574" y="3098"/>
                    <a:ext cx="164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.</a:t>
                    </a:r>
                    <a:endParaRPr/>
                  </a:p>
                </p:txBody>
              </p:sp>
              <p:sp>
                <p:nvSpPr>
                  <p:cNvPr id="634" name="Google Shape;634;p47"/>
                  <p:cNvSpPr txBox="1"/>
                  <p:nvPr/>
                </p:nvSpPr>
                <p:spPr>
                  <a:xfrm>
                    <a:off x="614" y="3146"/>
                    <a:ext cx="778" cy="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      S</a:t>
                    </a:r>
                    <a:endParaRPr/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Times New Roman"/>
                      <a:buNone/>
                    </a:pPr>
                    <a:r>
                      <a:rPr b="0" i="0" lang="en-US" sz="2400" u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Sessions</a:t>
                    </a:r>
                    <a:endParaRPr/>
                  </a:p>
                </p:txBody>
              </p:sp>
              <p:cxnSp>
                <p:nvCxnSpPr>
                  <p:cNvPr id="635" name="Google Shape;635;p47"/>
                  <p:cNvCxnSpPr/>
                  <p:nvPr/>
                </p:nvCxnSpPr>
                <p:spPr>
                  <a:xfrm>
                    <a:off x="1296" y="2160"/>
                    <a:ext cx="96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stealth"/>
                    <a:tailEnd len="med" w="med" type="stealth"/>
                  </a:ln>
                </p:spPr>
              </p:cxnSp>
              <p:cxnSp>
                <p:nvCxnSpPr>
                  <p:cNvPr id="636" name="Google Shape;636;p47"/>
                  <p:cNvCxnSpPr/>
                  <p:nvPr/>
                </p:nvCxnSpPr>
                <p:spPr>
                  <a:xfrm>
                    <a:off x="1440" y="2160"/>
                    <a:ext cx="72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stealth"/>
                    <a:tailEnd len="med" w="med" type="stealth"/>
                  </a:ln>
                </p:spPr>
              </p:cxnSp>
              <p:cxnSp>
                <p:nvCxnSpPr>
                  <p:cNvPr id="637" name="Google Shape;637;p47"/>
                  <p:cNvCxnSpPr/>
                  <p:nvPr/>
                </p:nvCxnSpPr>
                <p:spPr>
                  <a:xfrm>
                    <a:off x="3072" y="2160"/>
                    <a:ext cx="96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stealth"/>
                    <a:tailEnd len="med" w="med" type="stealth"/>
                  </a:ln>
                </p:spPr>
              </p:cxnSp>
              <p:cxnSp>
                <p:nvCxnSpPr>
                  <p:cNvPr id="638" name="Google Shape;638;p47"/>
                  <p:cNvCxnSpPr/>
                  <p:nvPr/>
                </p:nvCxnSpPr>
                <p:spPr>
                  <a:xfrm>
                    <a:off x="3216" y="2160"/>
                    <a:ext cx="67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stealth"/>
                    <a:tailEnd len="med" w="med" type="stealth"/>
                  </a:ln>
                </p:spPr>
              </p:cxnSp>
              <p:cxnSp>
                <p:nvCxnSpPr>
                  <p:cNvPr id="639" name="Google Shape;639;p47"/>
                  <p:cNvCxnSpPr/>
                  <p:nvPr/>
                </p:nvCxnSpPr>
                <p:spPr>
                  <a:xfrm rot="10800000">
                    <a:off x="1248" y="2448"/>
                    <a:ext cx="384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0" name="Google Shape;640;p47"/>
                  <p:cNvCxnSpPr/>
                  <p:nvPr/>
                </p:nvCxnSpPr>
                <p:spPr>
                  <a:xfrm rot="10800000">
                    <a:off x="1152" y="2496"/>
                    <a:ext cx="480" cy="43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1" name="Google Shape;641;p47"/>
                  <p:cNvCxnSpPr/>
                  <p:nvPr/>
                </p:nvCxnSpPr>
                <p:spPr>
                  <a:xfrm rot="10800000">
                    <a:off x="864" y="2592"/>
                    <a:ext cx="768" cy="9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2" name="Google Shape;642;p47"/>
                  <p:cNvCxnSpPr/>
                  <p:nvPr/>
                </p:nvCxnSpPr>
                <p:spPr>
                  <a:xfrm flipH="1" rot="10800000">
                    <a:off x="1632" y="2352"/>
                    <a:ext cx="624" cy="43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3" name="Google Shape;643;p47"/>
                  <p:cNvCxnSpPr/>
                  <p:nvPr/>
                </p:nvCxnSpPr>
                <p:spPr>
                  <a:xfrm flipH="1" rot="10800000">
                    <a:off x="1632" y="2448"/>
                    <a:ext cx="672" cy="48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4" name="Google Shape;644;p47"/>
                  <p:cNvCxnSpPr/>
                  <p:nvPr/>
                </p:nvCxnSpPr>
                <p:spPr>
                  <a:xfrm flipH="1" rot="10800000">
                    <a:off x="1632" y="2592"/>
                    <a:ext cx="912" cy="91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5" name="Google Shape;645;p47"/>
                  <p:cNvCxnSpPr/>
                  <p:nvPr/>
                </p:nvCxnSpPr>
                <p:spPr>
                  <a:xfrm flipH="1" rot="10800000">
                    <a:off x="1632" y="2448"/>
                    <a:ext cx="480" cy="3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6" name="Google Shape;646;p47"/>
                  <p:cNvCxnSpPr/>
                  <p:nvPr/>
                </p:nvCxnSpPr>
                <p:spPr>
                  <a:xfrm flipH="1" rot="10800000">
                    <a:off x="1632" y="2736"/>
                    <a:ext cx="768" cy="7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7" name="Google Shape;647;p47"/>
                  <p:cNvCxnSpPr/>
                  <p:nvPr/>
                </p:nvCxnSpPr>
                <p:spPr>
                  <a:xfrm>
                    <a:off x="2304" y="1392"/>
                    <a:ext cx="72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8" name="Google Shape;648;p47"/>
                  <p:cNvCxnSpPr/>
                  <p:nvPr/>
                </p:nvCxnSpPr>
                <p:spPr>
                  <a:xfrm>
                    <a:off x="2304" y="1392"/>
                    <a:ext cx="144" cy="38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49" name="Google Shape;649;p47"/>
                  <p:cNvCxnSpPr/>
                  <p:nvPr/>
                </p:nvCxnSpPr>
                <p:spPr>
                  <a:xfrm flipH="1">
                    <a:off x="2832" y="1392"/>
                    <a:ext cx="192" cy="38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50" name="Google Shape;650;p47"/>
                  <p:cNvCxnSpPr/>
                  <p:nvPr/>
                </p:nvCxnSpPr>
                <p:spPr>
                  <a:xfrm flipH="1">
                    <a:off x="2880" y="1392"/>
                    <a:ext cx="144" cy="28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  <p:cxnSp>
                <p:nvCxnSpPr>
                  <p:cNvPr id="651" name="Google Shape;651;p47"/>
                  <p:cNvCxnSpPr/>
                  <p:nvPr/>
                </p:nvCxnSpPr>
                <p:spPr>
                  <a:xfrm>
                    <a:off x="2304" y="1392"/>
                    <a:ext cx="96" cy="28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stealth"/>
                  </a:ln>
                </p:spPr>
              </p:cxnSp>
            </p:grpSp>
          </p:grpSp>
        </p:grpSp>
        <p:sp>
          <p:nvSpPr>
            <p:cNvPr id="652" name="Google Shape;652;p47"/>
            <p:cNvSpPr txBox="1"/>
            <p:nvPr/>
          </p:nvSpPr>
          <p:spPr>
            <a:xfrm>
              <a:off x="1440" y="1824"/>
              <a:ext cx="979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User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assignment</a:t>
              </a:r>
              <a:endParaRPr/>
            </a:p>
          </p:txBody>
        </p:sp>
        <p:sp>
          <p:nvSpPr>
            <p:cNvPr id="653" name="Google Shape;653;p47"/>
            <p:cNvSpPr txBox="1"/>
            <p:nvPr/>
          </p:nvSpPr>
          <p:spPr>
            <a:xfrm>
              <a:off x="3264" y="1824"/>
              <a:ext cx="979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Permission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assignment</a:t>
              </a:r>
              <a:endParaRPr/>
            </a:p>
          </p:txBody>
        </p:sp>
      </p:grpSp>
      <p:sp>
        <p:nvSpPr>
          <p:cNvPr id="654" name="Google Shape;654;p47"/>
          <p:cNvSpPr txBox="1"/>
          <p:nvPr/>
        </p:nvSpPr>
        <p:spPr>
          <a:xfrm>
            <a:off x="3581400" y="1524000"/>
            <a:ext cx="20526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Hierarchy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60" name="Google Shape;660;p4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61" name="Google Shape;661;p4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662" name="Google Shape;662;p4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RBAC</a:t>
            </a:r>
            <a:r>
              <a:rPr b="0" baseline="-2500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663" name="Google Shape;663;p48"/>
          <p:cNvSpPr txBox="1"/>
          <p:nvPr/>
        </p:nvSpPr>
        <p:spPr>
          <a:xfrm>
            <a:off x="746125" y="1895475"/>
            <a:ext cx="236378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Hierarchy</a:t>
            </a:r>
            <a:endParaRPr/>
          </a:p>
        </p:txBody>
      </p:sp>
      <p:sp>
        <p:nvSpPr>
          <p:cNvPr id="664" name="Google Shape;664;p48"/>
          <p:cNvSpPr txBox="1"/>
          <p:nvPr/>
        </p:nvSpPr>
        <p:spPr>
          <a:xfrm>
            <a:off x="1371600" y="2590800"/>
            <a:ext cx="17732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Primary-care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Physician</a:t>
            </a:r>
            <a:endParaRPr/>
          </a:p>
        </p:txBody>
      </p:sp>
      <p:sp>
        <p:nvSpPr>
          <p:cNvPr id="665" name="Google Shape;665;p48"/>
          <p:cNvSpPr txBox="1"/>
          <p:nvPr/>
        </p:nvSpPr>
        <p:spPr>
          <a:xfrm>
            <a:off x="3124200" y="4191000"/>
            <a:ext cx="13684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Physician</a:t>
            </a:r>
            <a:endParaRPr/>
          </a:p>
        </p:txBody>
      </p:sp>
      <p:sp>
        <p:nvSpPr>
          <p:cNvPr id="666" name="Google Shape;666;p48"/>
          <p:cNvSpPr txBox="1"/>
          <p:nvPr/>
        </p:nvSpPr>
        <p:spPr>
          <a:xfrm>
            <a:off x="4800600" y="2514600"/>
            <a:ext cx="15208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Specialist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Physician</a:t>
            </a:r>
            <a:endParaRPr/>
          </a:p>
        </p:txBody>
      </p:sp>
      <p:sp>
        <p:nvSpPr>
          <p:cNvPr id="667" name="Google Shape;667;p48"/>
          <p:cNvSpPr txBox="1"/>
          <p:nvPr/>
        </p:nvSpPr>
        <p:spPr>
          <a:xfrm>
            <a:off x="2514600" y="5486400"/>
            <a:ext cx="271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Health-care provider</a:t>
            </a:r>
            <a:endParaRPr/>
          </a:p>
        </p:txBody>
      </p:sp>
      <p:cxnSp>
        <p:nvCxnSpPr>
          <p:cNvPr id="668" name="Google Shape;668;p48"/>
          <p:cNvCxnSpPr/>
          <p:nvPr/>
        </p:nvCxnSpPr>
        <p:spPr>
          <a:xfrm rot="10800000">
            <a:off x="3810000" y="4572000"/>
            <a:ext cx="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9" name="Google Shape;669;p48"/>
          <p:cNvCxnSpPr/>
          <p:nvPr/>
        </p:nvCxnSpPr>
        <p:spPr>
          <a:xfrm rot="10800000">
            <a:off x="2362200" y="3352800"/>
            <a:ext cx="13716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70" name="Google Shape;670;p48"/>
          <p:cNvCxnSpPr/>
          <p:nvPr/>
        </p:nvCxnSpPr>
        <p:spPr>
          <a:xfrm flipH="1" rot="10800000">
            <a:off x="3962400" y="3352800"/>
            <a:ext cx="13716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71" name="Google Shape;671;p48"/>
          <p:cNvCxnSpPr/>
          <p:nvPr/>
        </p:nvCxnSpPr>
        <p:spPr>
          <a:xfrm rot="10800000">
            <a:off x="7239000" y="3048000"/>
            <a:ext cx="0" cy="26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2" name="Google Shape;672;p48"/>
          <p:cNvSpPr txBox="1"/>
          <p:nvPr/>
        </p:nvSpPr>
        <p:spPr>
          <a:xfrm>
            <a:off x="7391400" y="3886200"/>
            <a:ext cx="1552575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privileges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9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78" name="Google Shape;678;p49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79" name="Google Shape;679;p49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descr="Large confetti" id="680" name="Google Shape;680;p49"/>
          <p:cNvSpPr txBox="1"/>
          <p:nvPr/>
        </p:nvSpPr>
        <p:spPr>
          <a:xfrm>
            <a:off x="1093787" y="2841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RBAC</a:t>
            </a:r>
            <a:r>
              <a:rPr b="0" baseline="-2500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</p:txBody>
      </p:sp>
      <p:sp>
        <p:nvSpPr>
          <p:cNvPr id="681" name="Google Shape;681;p49"/>
          <p:cNvSpPr txBox="1"/>
          <p:nvPr/>
        </p:nvSpPr>
        <p:spPr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as RBAC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sers,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oles,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ermissions, 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essions, PA ⊆ P x R, UA ⊆ U x R, user: S 🡪 U, mapping each session s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single user user(s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 ⊆ R x R, partial order (≥ dominance)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roles: S 🡪 2</a:t>
            </a:r>
            <a:r>
              <a:rPr b="0" baseline="30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mapping each session s</a:t>
            </a:r>
            <a:r>
              <a:rPr b="0" baseline="-2500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set of roles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roles(s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⊆  {r | (∃r’ ≥ r) [(user(s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),r’) ∈ UA]} and s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permissions ∪ 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r∈roles(si)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{p | (∃r” ≤ r) [(p,r”) ∈ PA]}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0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87" name="Google Shape;687;p50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88" name="Google Shape;688;p50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689" name="Google Shape;689;p50"/>
          <p:cNvSpPr txBox="1"/>
          <p:nvPr>
            <p:ph type="title"/>
          </p:nvPr>
        </p:nvSpPr>
        <p:spPr>
          <a:xfrm>
            <a:off x="457200" y="25908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Access Control in Unix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1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695" name="Google Shape;695;p5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696" name="Google Shape;696;p5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697" name="Google Shape;697;p5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General Concepts</a:t>
            </a:r>
            <a:endParaRPr/>
          </a:p>
        </p:txBody>
      </p:sp>
      <p:sp>
        <p:nvSpPr>
          <p:cNvPr id="698" name="Google Shape;698;p51"/>
          <p:cNvSpPr txBox="1"/>
          <p:nvPr>
            <p:ph idx="1" type="body"/>
          </p:nvPr>
        </p:nvSpPr>
        <p:spPr>
          <a:xfrm>
            <a:off x="457200" y="12192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Users, Groups, Processes, Files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user has a unique UID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group has a unique GID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process has a unique PID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 belong to multiple groups GID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 whose access is controlled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Files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 of Objects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Files are arranged in a hierarchy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Files exist in directories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Directories are one type of files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UNIX, access on directories are not inherited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2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04" name="Google Shape;704;p52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05" name="Google Shape;705;p52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06" name="Google Shape;706;p5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Basic Permissions Bits on Files</a:t>
            </a:r>
            <a:endParaRPr/>
          </a:p>
        </p:txBody>
      </p:sp>
      <p:sp>
        <p:nvSpPr>
          <p:cNvPr id="707" name="Google Shape;707;p5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Permission: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Read:  control reading the content of a file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Write: controls changing the content of a file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Execute: controls loading the file then execute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operations can be performed only by the owner of the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are Permission Bits Kept?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file/directory has associated an i-node.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file type, permissions, owner UID and owner GID are save on disk in the inode of a file or directory</a:t>
            </a:r>
            <a:endParaRPr/>
          </a:p>
          <a:p>
            <a:pPr indent="-252095" lvl="0" marL="3429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3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13" name="Google Shape;713;p5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14" name="Google Shape;714;p5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15" name="Google Shape;715;p5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Permission Bits on Directories</a:t>
            </a:r>
            <a:endParaRPr/>
          </a:p>
        </p:txBody>
      </p:sp>
      <p:sp>
        <p:nvSpPr>
          <p:cNvPr id="716" name="Google Shape;716;p5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Read:  for showing file names in a directory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Execution: for traversing a directory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a lookup, allows one to find inode # from file name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‘chdir’ to a directory requires execution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+ execution: for creating/deleting files in the directory</a:t>
            </a:r>
            <a:endParaRPr/>
          </a:p>
          <a:p>
            <a:pPr indent="-325436" lvl="1" marL="6699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no permission on the file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Accessing a file a path name: need execution permission to all directories along the path</a:t>
            </a:r>
            <a:endParaRPr/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22" name="Google Shape;722;p5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23" name="Google Shape;723;p54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24" name="Google Shape;724;p5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Three Sets of Permission Bits</a:t>
            </a:r>
            <a:endParaRPr/>
          </a:p>
        </p:txBody>
      </p:sp>
      <p:sp>
        <p:nvSpPr>
          <p:cNvPr id="725" name="Google Shape;725;p5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 example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1365"/>
              <a:buNone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drwxr-xr-x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First: directory or not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three: owner permission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user is the owner of a file then the r/w/x bits for owner apply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three: group permission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user belongs to the group the file belongs to then the r/w/x bits for group apply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three: others permission</a:t>
            </a:r>
            <a:endParaRPr/>
          </a:p>
          <a:p>
            <a:pPr indent="-350837" lvl="2" marL="10223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when not the owner  or belong to the group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are Permission Bits Kept?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file/directory has associated an inode.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file type, permissions, owner UID and owner GID are save on disk in the inode of a file or directory</a:t>
            </a:r>
            <a:endParaRPr/>
          </a:p>
          <a:p>
            <a:pPr indent="-260350" lvl="0" marL="342900" rtl="0" algn="l">
              <a:spcBef>
                <a:spcPts val="4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5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31" name="Google Shape;731;p55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32" name="Google Shape;732;p55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33" name="Google Shape;733;p5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Users vs. Subjects</a:t>
            </a:r>
            <a:endParaRPr/>
          </a:p>
        </p:txBody>
      </p:sp>
      <p:sp>
        <p:nvSpPr>
          <p:cNvPr id="734" name="Google Shape;734;p5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Permission bits talk about what users can access a file 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🡺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it is subjects (processes) to perform actions on files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subject accesses a file, the system check which user it is acting on behalf of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what if an executable need stronger permission than the subject calling it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passwd 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needs to update a system-wide password file, which ordinary users should not be able to modify, but only root can modify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remember, it needs to be run by ordinary users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6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40" name="Google Shape;740;p5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41" name="Google Shape;741;p5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42" name="Google Shape;742;p5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Real User ID vs. Effective User ID</a:t>
            </a:r>
            <a:endParaRPr/>
          </a:p>
        </p:txBody>
      </p:sp>
      <p:sp>
        <p:nvSpPr>
          <p:cNvPr id="743" name="Google Shape;743;p5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process has three user IDs 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user ID (ruid): owner of the process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user ID (euid): used in most access control decisions, often the same as ruid unless there is a change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saved user ID (suid): keeps the previous euid if it was a change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three group IDs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group ID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group ID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saved group ID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7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49" name="Google Shape;749;p5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50" name="Google Shape;750;p5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51" name="Google Shape;751;p5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setuid flag</a:t>
            </a:r>
            <a:endParaRPr/>
          </a:p>
        </p:txBody>
      </p:sp>
      <p:sp>
        <p:nvSpPr>
          <p:cNvPr id="752" name="Google Shape;752;p57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used for a file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certain processes to have more than ordinary privileges while still being executable by ordinary users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set, the</a:t>
            </a:r>
            <a:r>
              <a:rPr b="1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 uid of the calling process takes the value of the owner of the file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8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Sep 2009 </a:t>
            </a:r>
            <a:endParaRPr/>
          </a:p>
        </p:txBody>
      </p:sp>
      <p:sp>
        <p:nvSpPr>
          <p:cNvPr id="758" name="Google Shape;758;p58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r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Information Security by Van K Nguyen Hanoi University of Technology</a:t>
            </a:r>
            <a:endParaRPr/>
          </a:p>
        </p:txBody>
      </p:sp>
      <p:sp>
        <p:nvSpPr>
          <p:cNvPr id="759" name="Google Shape;759;p58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/>
          </a:p>
        </p:txBody>
      </p:sp>
      <p:sp>
        <p:nvSpPr>
          <p:cNvPr id="760" name="Google Shape;760;p5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How the process user IDs work </a:t>
            </a:r>
            <a:endParaRPr/>
          </a:p>
        </p:txBody>
      </p:sp>
      <p:sp>
        <p:nvSpPr>
          <p:cNvPr id="761" name="Google Shape;761;p58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process is created by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fork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inherits all three UIDs from its parent process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process executes a file by </a:t>
            </a:r>
            <a:r>
              <a:rPr b="0" i="1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(the setuid bit of the file is off)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it keeps its three user IDs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otherwise // the setuid is set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euid of the process = ruid of the file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suid = previous euid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solve the passwd problem and the likes?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Passwd is owned by root and setuid is set</a:t>
            </a:r>
            <a:endParaRPr/>
          </a:p>
          <a:p>
            <a:pPr indent="-325437" lvl="1" marL="669925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process executes it, then effective user becomes root, so the program runs as root on behalf of the user (only within the passwd work)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36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a security flaw if the mechanism for temporary higher privilege is abused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2009-09-10T16:44:07Z</dcterms:created>
  <dc:creator>Preferred Customer</dc:creator>
</cp:coreProperties>
</file>